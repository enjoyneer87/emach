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11430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65A82"/>
                </a:solidFill>
                <a:latin typeface="Malgun Gothic"/>
                <a:ea typeface="Malgun Gothic"/>
                <a:cs typeface="Malgun Gothic"/>
              </a:rPr>
              <a:t>Prius 모터 열해석 — 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86384"/>
            <a:ext cx="11430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C7293"/>
                </a:solidFill>
                <a:latin typeface="Malgun Gothic"/>
                <a:ea typeface="Malgun Gothic"/>
                <a:cs typeface="Malgun Gothic"/>
              </a:rPr>
              <a:t>냉각 방식(워터재킷) · 손실 입력 · 해석 방법 3종 비교 · 검증 의도  —  결과 비교 페이지 앞의 문제정의 슬라이드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ius_mapdl_i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52" y="1289304"/>
            <a:ext cx="2405575" cy="20848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344728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5A6B75"/>
                </a:solidFill>
                <a:latin typeface="Malgun Gothic"/>
                <a:ea typeface="Malgun Gothic"/>
                <a:cs typeface="Malgun Gothic"/>
              </a:rPr>
              <a:t>MAPDL 3D 열-FEM 모델 (능동부: 고정자/회전자/자석/코일/샤프트)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23444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ius_mapdl_x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678" y="1289304"/>
            <a:ext cx="2245203" cy="20848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0" y="344728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5A6B75"/>
                </a:solidFill>
                <a:latin typeface="Malgun Gothic"/>
                <a:ea typeface="Malgun Gothic"/>
                <a:cs typeface="Malgun Gothic"/>
              </a:rPr>
              <a:t>단면: V-IPM · 8극 / 48슬롯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23444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ius_fluent_geom_is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132" y="1289304"/>
            <a:ext cx="2405575" cy="20848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0" y="344728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5A6B75"/>
                </a:solidFill>
                <a:latin typeface="Malgun Gothic"/>
                <a:ea typeface="Malgun Gothic"/>
                <a:cs typeface="Malgun Gothic"/>
              </a:rPr>
              <a:t>Fluent CHT 모델 (코어·코일·자석 + 프레임/워터재킷·커버)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23444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rius_fluent_cooling_c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2772" y="1289304"/>
            <a:ext cx="2405575" cy="20848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69680" y="344728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5A6B75"/>
                </a:solidFill>
                <a:latin typeface="Malgun Gothic"/>
                <a:ea typeface="Malgun Gothic"/>
                <a:cs typeface="Malgun Gothic"/>
              </a:rPr>
              <a:t>냉각 경로: 외곽 워터재킷/프레임 (반단면)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041648"/>
            <a:ext cx="3611880" cy="260604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60520" y="4041648"/>
            <a:ext cx="3611880" cy="260604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55279" y="4041648"/>
            <a:ext cx="3611880" cy="260604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69663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65A82"/>
                </a:solidFill>
                <a:latin typeface="Malgun Gothic"/>
                <a:ea typeface="Malgun Gothic"/>
                <a:cs typeface="Malgun Gothic"/>
              </a:rPr>
              <a:t>모터 &amp; 냉각 방식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517136"/>
            <a:ext cx="3227832" cy="2039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303A"/>
                </a:solidFill>
                <a:latin typeface="Malgun Gothic"/>
                <a:ea typeface="Malgun Gothic"/>
                <a:cs typeface="Malgun Gothic"/>
              </a:rPr>
              <a:t>•  Toyota Prius traction IPM (V자 매입형 영구자석)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303A"/>
                </a:solidFill>
                <a:latin typeface="Malgun Gothic"/>
                <a:ea typeface="Malgun Gothic"/>
                <a:cs typeface="Malgun Gothic"/>
              </a:rPr>
              <a:t>•  OD 269 mm · 적층 83.8 mm · 8극 / 48슬롯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303A"/>
                </a:solidFill>
                <a:latin typeface="Malgun Gothic"/>
                <a:ea typeface="Malgun Gothic"/>
                <a:cs typeface="Malgun Gothic"/>
              </a:rPr>
              <a:t>•  운전점 250 A(peak) / 3000 rpm / γ 60°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303A"/>
                </a:solidFill>
                <a:latin typeface="Malgun Gothic"/>
                <a:ea typeface="Malgun Gothic"/>
                <a:cs typeface="Malgun Gothic"/>
              </a:rPr>
              <a:t>•  냉각: 워터재킷 (고정자 OD 대류)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303A"/>
                </a:solidFill>
                <a:latin typeface="Malgun Gothic"/>
                <a:ea typeface="Malgun Gothic"/>
                <a:cs typeface="Malgun Gothic"/>
              </a:rPr>
              <a:t>•  냉각수 27°C · 유효 HTC 3000 W/m²·K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303A"/>
                </a:solidFill>
                <a:latin typeface="Malgun Gothic"/>
                <a:ea typeface="Malgun Gothic"/>
                <a:cs typeface="Malgun Gothic"/>
              </a:rPr>
              <a:t>•  재킷 유체 26.8–48.9°C (Fluent) · 대안 JAC279 회로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169663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65A82"/>
                </a:solidFill>
                <a:latin typeface="Malgun Gothic"/>
                <a:ea typeface="Malgun Gothic"/>
                <a:cs typeface="Malgun Gothic"/>
              </a:rPr>
              <a:t>손실 입력 (Maxwell 2D · 250A)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4517136"/>
            <a:ext cx="3227832" cy="2039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303A"/>
                </a:solidFill>
                <a:latin typeface="Malgun Gothic"/>
                <a:ea typeface="Malgun Gothic"/>
                <a:cs typeface="Malgun Gothic"/>
              </a:rPr>
              <a:t>•  슬롯 동손 2311.7 W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303A"/>
                </a:solidFill>
                <a:latin typeface="Malgun Gothic"/>
                <a:ea typeface="Malgun Gothic"/>
                <a:cs typeface="Malgun Gothic"/>
              </a:rPr>
              <a:t>•  엔드와인딩 동손 1038.7 W (V_end/V_slot=0.449)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303A"/>
                </a:solidFill>
                <a:latin typeface="Malgun Gothic"/>
                <a:ea typeface="Malgun Gothic"/>
                <a:cs typeface="Malgun Gothic"/>
              </a:rPr>
              <a:t>•  고정자 철손 584.9 W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303A"/>
                </a:solidFill>
                <a:latin typeface="Malgun Gothic"/>
                <a:ea typeface="Malgun Gothic"/>
                <a:cs typeface="Malgun Gothic"/>
              </a:rPr>
              <a:t>•  회전자 철손 65.0 W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303A"/>
                </a:solidFill>
                <a:latin typeface="Malgun Gothic"/>
                <a:ea typeface="Malgun Gothic"/>
                <a:cs typeface="Malgun Gothic"/>
              </a:rPr>
              <a:t>•  자석 와전류손 23.8 W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303A"/>
                </a:solidFill>
                <a:latin typeface="Malgun Gothic"/>
                <a:ea typeface="Malgun Gothic"/>
                <a:cs typeface="Malgun Gothic"/>
              </a:rPr>
              <a:t>•  철손 합계 649.9 W (고정자/회전자 90/10 추정)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59" y="4169663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65A82"/>
                </a:solidFill>
                <a:latin typeface="Malgun Gothic"/>
                <a:ea typeface="Malgun Gothic"/>
                <a:cs typeface="Malgun Gothic"/>
              </a:rPr>
              <a:t>해석 방법 3종 · BC · 검증 의도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4517136"/>
            <a:ext cx="3227832" cy="2039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303A"/>
                </a:solidFill>
                <a:latin typeface="Malgun Gothic"/>
                <a:ea typeface="Malgun Gothic"/>
                <a:cs typeface="Malgun Gothic"/>
              </a:rPr>
              <a:t>•  ① 3D 열-FEM (PyMAPDL, JAC279식): 능동부 3D + 열등가회로, SOLID87, 과도 900s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303A"/>
                </a:solidFill>
                <a:latin typeface="Malgun Gothic"/>
                <a:ea typeface="Malgun Gothic"/>
                <a:cs typeface="Malgun Gothic"/>
              </a:rPr>
              <a:t>•  ② Fluent CHT: 실제 워터재킷 켤레열전달 정상해 (10 zone)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303A"/>
                </a:solidFill>
                <a:latin typeface="Malgun Gothic"/>
                <a:ea typeface="Malgun Gothic"/>
                <a:cs typeface="Malgun Gothic"/>
              </a:rPr>
              <a:t>•  ③ Icepak FEA: 전도+대류벽 (발산회피 고정온도)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303A"/>
                </a:solidFill>
                <a:latin typeface="Malgun Gothic"/>
                <a:ea typeface="Malgun Gothic"/>
                <a:cs typeface="Malgun Gothic"/>
              </a:rPr>
              <a:t>•  BC: MAPDL/Fluent 워터재킷 대류(27°C, HTC3000) · Icepak frame-OD 40°C 고정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303A"/>
                </a:solidFill>
                <a:latin typeface="Malgun Gothic"/>
                <a:ea typeface="Malgun Gothic"/>
                <a:cs typeface="Malgun Gothic"/>
              </a:rPr>
              <a:t>•  검증: Fluent CFD 정답지로 MAPDL 하이브리드 동일조건 재현 → 코일 최고온 비교(다음 페이지)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